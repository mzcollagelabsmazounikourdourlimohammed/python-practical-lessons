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6858000" cy="9144000"/>
  <p:embeddedFontLst>
    <p:embeddedFont>
      <p:font typeface="Gotham"/>
      <p:regular r:id="rId17"/>
    </p:embeddedFont>
    <p:embeddedFont>
      <p:font typeface="Gotham Bold"/>
      <p:bold r:id="rId18"/>
    </p:embeddedFont>
    <p:embeddedFont>
      <p:font typeface="Poppins" panose="00000500000000000000"/>
      <p:regular r:id="rId19"/>
    </p:embeddedFont>
    <p:embeddedFont>
      <p:font typeface="Gotham Italics"/>
      <p:italic r:id="rId20"/>
    </p:embeddedFont>
    <p:embeddedFont>
      <p:font typeface="Gotham Light Italics"/>
      <p:italic r:id="rId21"/>
    </p:embeddedFont>
    <p:embeddedFont>
      <p:font typeface="Hacen Tunisia Light" panose="02000500000000000000"/>
      <p:regular r:id="rId22"/>
    </p:embeddedFont>
    <p:embeddedFont>
      <p:font typeface="Hacen Tunisia Bold" panose="02000500000000000000"/>
      <p:regular r:id="rId23"/>
    </p:embeddedFont>
    <p:embeddedFont>
      <p:font typeface="Gotham Bold Italics" panose="02000000000000000000"/>
      <p:boldItalic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jpe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4468512" y="-353712"/>
            <a:ext cx="10994424" cy="1099442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91400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16384897" y="5379918"/>
            <a:ext cx="6059445" cy="605944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9" name="Freeform 9"/>
          <p:cNvSpPr/>
          <p:nvPr/>
        </p:nvSpPr>
        <p:spPr>
          <a:xfrm>
            <a:off x="15720762" y="6964430"/>
            <a:ext cx="2000810" cy="4114800"/>
          </a:xfrm>
          <a:custGeom>
            <a:avLst/>
            <a:gdLst/>
            <a:ahLst/>
            <a:cxnLst/>
            <a:rect l="l" t="t" r="r" b="b"/>
            <a:pathLst>
              <a:path w="2000810" h="4114800">
                <a:moveTo>
                  <a:pt x="0" y="0"/>
                </a:moveTo>
                <a:lnTo>
                  <a:pt x="2000810" y="0"/>
                </a:lnTo>
                <a:lnTo>
                  <a:pt x="20008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04881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3373132" y="4114076"/>
            <a:ext cx="12198237" cy="2291464"/>
            <a:chOff x="0" y="0"/>
            <a:chExt cx="3212705" cy="60351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212704" cy="603513"/>
            </a:xfrm>
            <a:custGeom>
              <a:avLst/>
              <a:gdLst/>
              <a:ahLst/>
              <a:cxnLst/>
              <a:rect l="l" t="t" r="r" b="b"/>
              <a:pathLst>
                <a:path w="3212704" h="603513">
                  <a:moveTo>
                    <a:pt x="0" y="0"/>
                  </a:moveTo>
                  <a:lnTo>
                    <a:pt x="3212704" y="0"/>
                  </a:lnTo>
                  <a:lnTo>
                    <a:pt x="3212704" y="603513"/>
                  </a:lnTo>
                  <a:lnTo>
                    <a:pt x="0" y="603513"/>
                  </a:lnTo>
                  <a:close/>
                </a:path>
              </a:pathLst>
            </a:custGeom>
            <a:solidFill>
              <a:srgbClr val="FFFEF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3212705" cy="632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9" name="Freeform 19"/>
          <p:cNvSpPr/>
          <p:nvPr/>
        </p:nvSpPr>
        <p:spPr>
          <a:xfrm>
            <a:off x="1120278" y="653525"/>
            <a:ext cx="1708603" cy="2122940"/>
          </a:xfrm>
          <a:custGeom>
            <a:avLst/>
            <a:gdLst/>
            <a:ahLst/>
            <a:cxnLst/>
            <a:rect l="l" t="t" r="r" b="b"/>
            <a:pathLst>
              <a:path w="1708603" h="2122940">
                <a:moveTo>
                  <a:pt x="0" y="0"/>
                </a:moveTo>
                <a:lnTo>
                  <a:pt x="1708604" y="0"/>
                </a:lnTo>
                <a:lnTo>
                  <a:pt x="1708604" y="2122940"/>
                </a:lnTo>
                <a:lnTo>
                  <a:pt x="0" y="2122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5278273" y="812061"/>
            <a:ext cx="2213250" cy="2213250"/>
          </a:xfrm>
          <a:custGeom>
            <a:avLst/>
            <a:gdLst/>
            <a:ahLst/>
            <a:cxnLst/>
            <a:rect l="l" t="t" r="r" b="b"/>
            <a:pathLst>
              <a:path w="2213250" h="2213250">
                <a:moveTo>
                  <a:pt x="0" y="0"/>
                </a:moveTo>
                <a:lnTo>
                  <a:pt x="2213249" y="0"/>
                </a:lnTo>
                <a:lnTo>
                  <a:pt x="2213249" y="2213250"/>
                </a:lnTo>
                <a:lnTo>
                  <a:pt x="0" y="2213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2900168" y="7471361"/>
            <a:ext cx="2139927" cy="2139927"/>
          </a:xfrm>
          <a:custGeom>
            <a:avLst/>
            <a:gdLst/>
            <a:ahLst/>
            <a:cxnLst/>
            <a:rect l="l" t="t" r="r" b="b"/>
            <a:pathLst>
              <a:path w="2139927" h="2139927">
                <a:moveTo>
                  <a:pt x="0" y="0"/>
                </a:moveTo>
                <a:lnTo>
                  <a:pt x="2139927" y="0"/>
                </a:lnTo>
                <a:lnTo>
                  <a:pt x="2139927" y="2139927"/>
                </a:lnTo>
                <a:lnTo>
                  <a:pt x="0" y="21399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2461137" y="5145508"/>
            <a:ext cx="13923760" cy="1917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spc="308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Python programming language</a:t>
            </a:r>
            <a:endParaRPr lang="en-US" sz="5500" spc="308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ctr">
              <a:lnSpc>
                <a:spcPts val="7700"/>
              </a:lnSpc>
              <a:spcBef>
                <a:spcPct val="0"/>
              </a:spcBef>
            </a:pPr>
          </a:p>
        </p:txBody>
      </p:sp>
      <p:sp>
        <p:nvSpPr>
          <p:cNvPr id="23" name="TextBox 23"/>
          <p:cNvSpPr txBox="1"/>
          <p:nvPr/>
        </p:nvSpPr>
        <p:spPr>
          <a:xfrm>
            <a:off x="2060305" y="6066239"/>
            <a:ext cx="13923760" cy="837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0"/>
              </a:lnSpc>
              <a:spcBef>
                <a:spcPct val="0"/>
              </a:spcBef>
            </a:pPr>
            <a:r>
              <a:rPr lang="en-US" sz="4900" b="1" spc="274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Mz Collage Labs</a:t>
            </a:r>
            <a:endParaRPr lang="en-US" sz="4900" b="1" spc="274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3564241" y="3971201"/>
            <a:ext cx="14470811" cy="126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70"/>
              </a:lnSpc>
              <a:spcBef>
                <a:spcPct val="0"/>
              </a:spcBef>
            </a:pPr>
            <a:r>
              <a:rPr lang="en-US" sz="7410" b="1" spc="1037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TRAINING SESSION</a:t>
            </a:r>
            <a:endParaRPr lang="en-US" sz="7410" b="1" spc="1037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479079" y="8653530"/>
            <a:ext cx="6151000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224">
                <a:solidFill>
                  <a:srgbClr val="191919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27-11-2025</a:t>
            </a:r>
            <a:endParaRPr lang="en-US" sz="2000" spc="1224">
              <a:solidFill>
                <a:srgbClr val="191919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479079" y="7920419"/>
            <a:ext cx="615100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224">
                <a:solidFill>
                  <a:srgbClr val="191919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RUNWAY 2</a:t>
            </a:r>
            <a:endParaRPr lang="en-US" sz="2000" spc="1224">
              <a:solidFill>
                <a:srgbClr val="191919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168319" y="738220"/>
            <a:ext cx="8509397" cy="1180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Mohamed Kheider University of Biskra </a:t>
            </a:r>
            <a:endParaRPr lang="en-US" sz="3400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Faculty of Sciences and Technology</a:t>
            </a:r>
            <a:endParaRPr lang="en-US" sz="3400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965668" y="-5606768"/>
            <a:ext cx="10994424" cy="1099442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0"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 rot="0"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675213" y="1238250"/>
            <a:ext cx="6727836" cy="131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00"/>
              </a:lnSpc>
            </a:pPr>
            <a:r>
              <a:rPr lang="en-US" sz="10000" b="1" spc="499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Python</a:t>
            </a:r>
            <a:endParaRPr lang="en-US" sz="10000" b="1" spc="499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723519" y="2622686"/>
            <a:ext cx="6598813" cy="59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347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easy to learn</a:t>
            </a:r>
            <a:endParaRPr lang="en-US" sz="3470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022925" y="2642678"/>
            <a:ext cx="6598813" cy="59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347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open source</a:t>
            </a:r>
            <a:endParaRPr lang="en-US" sz="3470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2733044" y="3157119"/>
            <a:ext cx="6598813" cy="59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347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mixed-use</a:t>
            </a:r>
            <a:endParaRPr lang="en-US" sz="3470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3590955" y="3729651"/>
            <a:ext cx="6598813" cy="59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347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massive community</a:t>
            </a:r>
            <a:endParaRPr lang="en-US" sz="3470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927392" y="5068128"/>
            <a:ext cx="4535653" cy="159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Web development</a:t>
            </a:r>
            <a:endParaRPr lang="en-US" sz="2270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3180"/>
              </a:lnSpc>
            </a:pPr>
            <a:r>
              <a:rPr lang="en-US" sz="227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Using frameworks Django and Flask to build websites and applications.</a:t>
            </a:r>
            <a:endParaRPr lang="en-US" sz="2270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8958251" y="5068128"/>
            <a:ext cx="3986897" cy="159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AI and ML</a:t>
            </a:r>
            <a:endParaRPr lang="en-US" sz="2270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3180"/>
              </a:lnSpc>
            </a:pPr>
            <a:r>
              <a:rPr lang="en-US" sz="227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Libraries such as TensorFlow and scikit-learn.</a:t>
            </a:r>
            <a:endParaRPr lang="en-US" sz="2270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927392" y="6842152"/>
            <a:ext cx="3829244" cy="119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Data analysis and big</a:t>
            </a:r>
            <a:r>
              <a:rPr lang="en-US" sz="227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endParaRPr lang="en-US" sz="2270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3180"/>
              </a:lnSpc>
            </a:pPr>
            <a:r>
              <a:rPr lang="en-US" sz="227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Tools like Pandas, NumPy, and Matplotlib.</a:t>
            </a:r>
            <a:endParaRPr lang="en-US" sz="2270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8965668" y="6972142"/>
            <a:ext cx="4646030" cy="79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Phone and desktop app</a:t>
            </a:r>
            <a:endParaRPr lang="en-US" sz="2270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3180"/>
              </a:lnSpc>
            </a:pPr>
            <a:r>
              <a:rPr lang="en-US" sz="227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Using Kivy and PyQt.</a:t>
            </a:r>
            <a:endParaRPr lang="en-US" sz="2270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5842014" y="8413268"/>
            <a:ext cx="4646030" cy="119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0"/>
              </a:lnSpc>
            </a:pPr>
            <a:r>
              <a:rPr lang="en-US" sz="227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Internet of Things (IoT)</a:t>
            </a:r>
            <a:endParaRPr lang="en-US" sz="2270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l">
              <a:lnSpc>
                <a:spcPts val="3180"/>
              </a:lnSpc>
            </a:pPr>
            <a:r>
              <a:rPr lang="en-US" sz="227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With devices like Arduino and Raspberry Pi.</a:t>
            </a:r>
            <a:endParaRPr lang="en-US" sz="2270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022925" y="3186636"/>
            <a:ext cx="6598813" cy="59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347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supported</a:t>
            </a:r>
            <a:endParaRPr lang="en-US" sz="3470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grpSp>
        <p:nvGrpSpPr>
          <p:cNvPr id="41" name="Group 41"/>
          <p:cNvGrpSpPr/>
          <p:nvPr/>
        </p:nvGrpSpPr>
        <p:grpSpPr>
          <a:xfrm rot="0">
            <a:off x="948235" y="7123361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 rot="0">
            <a:off x="948235" y="7790991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 rot="3945801">
            <a:off x="11868535" y="8125500"/>
            <a:ext cx="4776403" cy="4776403"/>
            <a:chOff x="0" y="0"/>
            <a:chExt cx="812800" cy="8128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0" name="Freeform 50"/>
          <p:cNvSpPr/>
          <p:nvPr/>
        </p:nvSpPr>
        <p:spPr>
          <a:xfrm rot="3945801">
            <a:off x="12156571" y="7154038"/>
            <a:ext cx="1577153" cy="3243522"/>
          </a:xfrm>
          <a:custGeom>
            <a:avLst/>
            <a:gdLst/>
            <a:ahLst/>
            <a:cxnLst/>
            <a:rect l="l" t="t" r="r" b="b"/>
            <a:pathLst>
              <a:path w="1577153" h="3243522">
                <a:moveTo>
                  <a:pt x="0" y="0"/>
                </a:moveTo>
                <a:lnTo>
                  <a:pt x="1577154" y="0"/>
                </a:lnTo>
                <a:lnTo>
                  <a:pt x="1577154" y="3243523"/>
                </a:lnTo>
                <a:lnTo>
                  <a:pt x="0" y="32435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04881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882580" y="-3503638"/>
            <a:ext cx="12753441" cy="1275344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61950" cap="sq">
              <a:solidFill>
                <a:srgbClr val="FD6220">
                  <a:alpha val="25882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9232C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0">
            <a:off x="709357" y="2648112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951509" y="4428296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951509" y="1982349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0">
            <a:off x="951509" y="5094059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951509" y="3762533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 rot="0">
            <a:off x="951509" y="6425585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 rot="0">
            <a:off x="951509" y="5759822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0">
            <a:off x="951509" y="7093216"/>
            <a:ext cx="508158" cy="543805"/>
            <a:chOff x="0" y="0"/>
            <a:chExt cx="812800" cy="86981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 rot="0">
            <a:off x="951509" y="7760846"/>
            <a:ext cx="508158" cy="543805"/>
            <a:chOff x="0" y="0"/>
            <a:chExt cx="812800" cy="86981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6" name="Freeform 36"/>
          <p:cNvSpPr/>
          <p:nvPr/>
        </p:nvSpPr>
        <p:spPr>
          <a:xfrm>
            <a:off x="9418651" y="3144343"/>
            <a:ext cx="7840649" cy="5319279"/>
          </a:xfrm>
          <a:custGeom>
            <a:avLst/>
            <a:gdLst/>
            <a:ahLst/>
            <a:cxnLst/>
            <a:rect l="l" t="t" r="r" b="b"/>
            <a:pathLst>
              <a:path w="7840649" h="5319279">
                <a:moveTo>
                  <a:pt x="0" y="0"/>
                </a:moveTo>
                <a:lnTo>
                  <a:pt x="7840649" y="0"/>
                </a:lnTo>
                <a:lnTo>
                  <a:pt x="7840649" y="5319279"/>
                </a:lnTo>
                <a:lnTo>
                  <a:pt x="0" y="5319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2647891" y="1423699"/>
            <a:ext cx="6039059" cy="110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60"/>
              </a:lnSpc>
            </a:pPr>
            <a:r>
              <a:rPr lang="en-US" sz="647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 Install Python</a:t>
            </a:r>
            <a:endParaRPr lang="en-US" sz="6470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687900" y="2951002"/>
            <a:ext cx="5999050" cy="40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 b="1" spc="59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To install for computer</a:t>
            </a:r>
            <a:endParaRPr lang="en-US" sz="2400" b="1" spc="59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2687900" y="6130418"/>
            <a:ext cx="5999050" cy="40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 b="1" spc="59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To install for phone</a:t>
            </a:r>
            <a:endParaRPr lang="en-US" sz="2400" b="1" spc="59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970738" y="3634385"/>
            <a:ext cx="5999050" cy="1750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835"/>
              </a:lnSpc>
              <a:buFont typeface="Arial" panose="020B0604020202020204"/>
              <a:buChar char="•"/>
            </a:pPr>
            <a:r>
              <a:rPr lang="en-US" sz="2100" spc="52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https://www.python.org/downloads</a:t>
            </a:r>
            <a:endParaRPr lang="en-US" sz="2100" spc="52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453390" lvl="1" indent="-226695" algn="l">
              <a:lnSpc>
                <a:spcPts val="2835"/>
              </a:lnSpc>
              <a:buFont typeface="Arial" panose="020B0604020202020204"/>
              <a:buChar char="•"/>
            </a:pPr>
            <a:r>
              <a:rPr lang="en-US" sz="2100" spc="52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operating system</a:t>
            </a:r>
            <a:endParaRPr lang="en-US" sz="2100" spc="52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453390" lvl="1" indent="-226695" algn="l">
              <a:lnSpc>
                <a:spcPts val="2835"/>
              </a:lnSpc>
              <a:buFont typeface="Arial" panose="020B0604020202020204"/>
              <a:buChar char="•"/>
            </a:pPr>
            <a:r>
              <a:rPr lang="en-US" sz="2100" spc="52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Add Python to PATH</a:t>
            </a:r>
            <a:endParaRPr lang="en-US" sz="2100" spc="52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453390" lvl="1" indent="-226695" algn="l">
              <a:lnSpc>
                <a:spcPts val="2835"/>
              </a:lnSpc>
              <a:buFont typeface="Arial" panose="020B0604020202020204"/>
              <a:buChar char="•"/>
            </a:pPr>
            <a:r>
              <a:rPr lang="en-US" sz="2100" spc="52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VS Code</a:t>
            </a:r>
            <a:endParaRPr lang="en-US" sz="2100" spc="52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453390" lvl="1" indent="-226695" algn="l">
              <a:lnSpc>
                <a:spcPts val="2835"/>
              </a:lnSpc>
              <a:buFont typeface="Arial" panose="020B0604020202020204"/>
              <a:buChar char="•"/>
            </a:pPr>
            <a:r>
              <a:rPr lang="en-US" sz="2100" spc="52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Python Extension</a:t>
            </a:r>
            <a:endParaRPr lang="en-US" sz="2100" spc="52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970738" y="6668913"/>
            <a:ext cx="5999050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835"/>
              </a:lnSpc>
              <a:buFont typeface="Arial" panose="020B0604020202020204"/>
              <a:buChar char="•"/>
            </a:pPr>
            <a:r>
              <a:rPr lang="en-US" sz="2100" spc="52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Pydroid 3</a:t>
            </a:r>
            <a:endParaRPr lang="en-US" sz="2100" spc="52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453390" lvl="1" indent="-226695" algn="l">
              <a:lnSpc>
                <a:spcPts val="2835"/>
              </a:lnSpc>
              <a:buFont typeface="Arial" panose="020B0604020202020204"/>
              <a:buChar char="•"/>
            </a:pPr>
            <a:r>
              <a:rPr lang="en-US" sz="2100" spc="52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Termux</a:t>
            </a:r>
            <a:endParaRPr lang="en-US" sz="2100" spc="52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453390" lvl="1" indent="-226695" algn="l">
              <a:lnSpc>
                <a:spcPts val="2835"/>
              </a:lnSpc>
              <a:buFont typeface="Arial" panose="020B0604020202020204"/>
              <a:buChar char="•"/>
            </a:pPr>
            <a:r>
              <a:rPr lang="en-US" sz="2100" spc="52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Pythonista </a:t>
            </a:r>
            <a:endParaRPr lang="en-US" sz="2100" spc="52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9232C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709357" y="3315742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951509" y="4428296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951509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951509" y="5094059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951509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951509" y="6425585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951509" y="5759822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951509" y="7093216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951509" y="7760846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0131032" y="782919"/>
            <a:ext cx="7858512" cy="9166085"/>
          </a:xfrm>
          <a:custGeom>
            <a:avLst/>
            <a:gdLst/>
            <a:ahLst/>
            <a:cxnLst/>
            <a:rect l="l" t="t" r="r" b="b"/>
            <a:pathLst>
              <a:path w="7858512" h="9166085">
                <a:moveTo>
                  <a:pt x="0" y="0"/>
                </a:moveTo>
                <a:lnTo>
                  <a:pt x="7858512" y="0"/>
                </a:lnTo>
                <a:lnTo>
                  <a:pt x="7858512" y="9166085"/>
                </a:lnTo>
                <a:lnTo>
                  <a:pt x="0" y="9166085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 rot="0">
            <a:off x="16439471" y="8737362"/>
            <a:ext cx="3697059" cy="3697059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646631" y="877979"/>
            <a:ext cx="6989101" cy="821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variable \ Data Types</a:t>
            </a:r>
            <a:endParaRPr lang="en-US" sz="4800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618056" y="5301424"/>
            <a:ext cx="5213387" cy="48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Data Types:</a:t>
            </a:r>
            <a:endParaRPr lang="en-US" sz="2850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618056" y="2911386"/>
            <a:ext cx="6008098" cy="489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Rules for naming variables:</a:t>
            </a:r>
            <a:endParaRPr lang="en-US" sz="2850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2646631" y="3492072"/>
            <a:ext cx="6794951" cy="184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5"/>
              </a:lnSpc>
            </a:pPr>
            <a:r>
              <a:rPr lang="en-US" sz="2125" i="1">
                <a:solidFill>
                  <a:srgbClr val="191919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Starts with an underscore _ only.</a:t>
            </a:r>
            <a:endParaRPr lang="en-US" sz="2125" i="1">
              <a:solidFill>
                <a:srgbClr val="191919"/>
              </a:solidFill>
              <a:latin typeface="Gotham Italics"/>
              <a:ea typeface="Gotham Italics"/>
              <a:cs typeface="Gotham Italics"/>
              <a:sym typeface="Gotham Italics"/>
            </a:endParaRPr>
          </a:p>
          <a:p>
            <a:pPr algn="l">
              <a:lnSpc>
                <a:spcPts val="2975"/>
              </a:lnSpc>
            </a:pPr>
            <a:r>
              <a:rPr lang="en-US" sz="2125" i="1">
                <a:solidFill>
                  <a:srgbClr val="191919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Contains no spaces or special symbols (@, #, $, %).</a:t>
            </a:r>
            <a:endParaRPr lang="en-US" sz="2125" i="1">
              <a:solidFill>
                <a:srgbClr val="191919"/>
              </a:solidFill>
              <a:latin typeface="Gotham Italics"/>
              <a:ea typeface="Gotham Italics"/>
              <a:cs typeface="Gotham Italics"/>
              <a:sym typeface="Gotham Italics"/>
            </a:endParaRPr>
          </a:p>
          <a:p>
            <a:pPr algn="l">
              <a:lnSpc>
                <a:spcPts val="2975"/>
              </a:lnSpc>
            </a:pPr>
            <a:r>
              <a:rPr lang="en-US" sz="2125" i="1">
                <a:solidFill>
                  <a:srgbClr val="191919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Character status sensitive → Name ≠ Name.</a:t>
            </a:r>
            <a:endParaRPr lang="en-US" sz="2125" i="1">
              <a:solidFill>
                <a:srgbClr val="191919"/>
              </a:solidFill>
              <a:latin typeface="Gotham Italics"/>
              <a:ea typeface="Gotham Italics"/>
              <a:cs typeface="Gotham Italics"/>
              <a:sym typeface="Gotham Italics"/>
            </a:endParaRPr>
          </a:p>
          <a:p>
            <a:pPr algn="l">
              <a:lnSpc>
                <a:spcPts val="2975"/>
              </a:lnSpc>
            </a:pPr>
            <a:r>
              <a:rPr lang="en-US" sz="2125" i="1">
                <a:solidFill>
                  <a:srgbClr val="191919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Use clear names:</a:t>
            </a:r>
            <a:endParaRPr lang="en-US" sz="2125" i="1">
              <a:solidFill>
                <a:srgbClr val="191919"/>
              </a:solidFill>
              <a:latin typeface="Gotham Italics"/>
              <a:ea typeface="Gotham Italics"/>
              <a:cs typeface="Gotham Italics"/>
              <a:sym typeface="Gotham Italic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618056" y="5990936"/>
            <a:ext cx="6794951" cy="807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325" i="1">
                <a:solidFill>
                  <a:srgbClr val="191919"/>
                </a:solidFill>
                <a:latin typeface="Gotham Light Italics"/>
                <a:ea typeface="Gotham Light Italics"/>
                <a:cs typeface="Gotham Light Italics"/>
                <a:sym typeface="Gotham Light Italics"/>
              </a:rPr>
              <a:t>INT FLOAT STR BOOL LIST TUPLE DICT SET</a:t>
            </a:r>
            <a:endParaRPr lang="en-US" sz="2325" i="1">
              <a:solidFill>
                <a:srgbClr val="191919"/>
              </a:solidFill>
              <a:latin typeface="Gotham Light Italics"/>
              <a:ea typeface="Gotham Light Italics"/>
              <a:cs typeface="Gotham Light Italics"/>
              <a:sym typeface="Gotham Light Italics"/>
            </a:endParaRPr>
          </a:p>
          <a:p>
            <a:pPr algn="l">
              <a:lnSpc>
                <a:spcPts val="3255"/>
              </a:lnSpc>
            </a:pPr>
          </a:p>
        </p:txBody>
      </p:sp>
      <p:sp>
        <p:nvSpPr>
          <p:cNvPr id="41" name="TextBox 41"/>
          <p:cNvSpPr txBox="1"/>
          <p:nvPr/>
        </p:nvSpPr>
        <p:spPr>
          <a:xfrm>
            <a:off x="2579956" y="6456632"/>
            <a:ext cx="6794951" cy="194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0695" lvl="1" indent="-240030" algn="l">
              <a:lnSpc>
                <a:spcPts val="3115"/>
              </a:lnSpc>
              <a:buFont typeface="Arial" panose="020B0604020202020204"/>
              <a:buChar char="•"/>
            </a:pPr>
            <a:r>
              <a:rPr lang="en-US" sz="2225" i="1">
                <a:solidFill>
                  <a:srgbClr val="191919"/>
                </a:solidFill>
                <a:latin typeface="Gotham Light Italics"/>
                <a:ea typeface="Gotham Light Italics"/>
                <a:cs typeface="Gotham Light Italics"/>
                <a:sym typeface="Gotham Light Italics"/>
              </a:rPr>
              <a:t>Multi-valued list</a:t>
            </a:r>
            <a:endParaRPr lang="en-US" sz="2225" i="1">
              <a:solidFill>
                <a:srgbClr val="191919"/>
              </a:solidFill>
              <a:latin typeface="Gotham Light Italics"/>
              <a:ea typeface="Gotham Light Italics"/>
              <a:cs typeface="Gotham Light Italics"/>
              <a:sym typeface="Gotham Light Italics"/>
            </a:endParaRPr>
          </a:p>
          <a:p>
            <a:pPr marL="480695" lvl="1" indent="-240030" algn="l">
              <a:lnSpc>
                <a:spcPts val="3115"/>
              </a:lnSpc>
              <a:buFont typeface="Arial" panose="020B0604020202020204"/>
              <a:buChar char="•"/>
            </a:pPr>
            <a:r>
              <a:rPr lang="en-US" sz="2225" i="1">
                <a:solidFill>
                  <a:srgbClr val="191919"/>
                </a:solidFill>
                <a:latin typeface="Gotham Light Italics"/>
                <a:ea typeface="Gotham Light Italics"/>
                <a:cs typeface="Gotham Light Italics"/>
                <a:sym typeface="Gotham Light Italics"/>
              </a:rPr>
              <a:t>but it is fixed</a:t>
            </a:r>
            <a:endParaRPr lang="en-US" sz="2225" i="1">
              <a:solidFill>
                <a:srgbClr val="191919"/>
              </a:solidFill>
              <a:latin typeface="Gotham Light Italics"/>
              <a:ea typeface="Gotham Light Italics"/>
              <a:cs typeface="Gotham Light Italics"/>
              <a:sym typeface="Gotham Light Italics"/>
            </a:endParaRPr>
          </a:p>
          <a:p>
            <a:pPr marL="480695" lvl="1" indent="-240030" algn="l">
              <a:lnSpc>
                <a:spcPts val="3115"/>
              </a:lnSpc>
              <a:buFont typeface="Arial" panose="020B0604020202020204"/>
              <a:buChar char="•"/>
            </a:pPr>
            <a:r>
              <a:rPr lang="en-US" sz="2225" i="1">
                <a:solidFill>
                  <a:srgbClr val="191919"/>
                </a:solidFill>
                <a:latin typeface="Gotham Light Italics"/>
                <a:ea typeface="Gotham Light Italics"/>
                <a:cs typeface="Gotham Light Italics"/>
                <a:sym typeface="Gotham Light Italics"/>
              </a:rPr>
              <a:t>Dictionaries</a:t>
            </a:r>
            <a:endParaRPr lang="en-US" sz="2225" i="1">
              <a:solidFill>
                <a:srgbClr val="191919"/>
              </a:solidFill>
              <a:latin typeface="Gotham Light Italics"/>
              <a:ea typeface="Gotham Light Italics"/>
              <a:cs typeface="Gotham Light Italics"/>
              <a:sym typeface="Gotham Light Italics"/>
            </a:endParaRPr>
          </a:p>
          <a:p>
            <a:pPr marL="480695" lvl="1" indent="-240030" algn="l">
              <a:lnSpc>
                <a:spcPts val="3115"/>
              </a:lnSpc>
              <a:buFont typeface="Arial" panose="020B0604020202020204"/>
              <a:buChar char="•"/>
            </a:pPr>
            <a:r>
              <a:rPr lang="en-US" sz="2225" i="1">
                <a:solidFill>
                  <a:srgbClr val="191919"/>
                </a:solidFill>
                <a:latin typeface="Gotham Light Italics"/>
                <a:ea typeface="Gotham Light Italics"/>
                <a:cs typeface="Gotham Light Italics"/>
                <a:sym typeface="Gotham Light Italics"/>
              </a:rPr>
              <a:t>Unordered set</a:t>
            </a:r>
            <a:endParaRPr lang="en-US" sz="2225" i="1">
              <a:solidFill>
                <a:srgbClr val="191919"/>
              </a:solidFill>
              <a:latin typeface="Gotham Light Italics"/>
              <a:ea typeface="Gotham Light Italics"/>
              <a:cs typeface="Gotham Light Italics"/>
              <a:sym typeface="Gotham Light Italics"/>
            </a:endParaRPr>
          </a:p>
          <a:p>
            <a:pPr algn="r">
              <a:lnSpc>
                <a:spcPts val="3115"/>
              </a:lnSpc>
            </a:pPr>
          </a:p>
        </p:txBody>
      </p:sp>
      <p:sp>
        <p:nvSpPr>
          <p:cNvPr id="42" name="TextBox 42"/>
          <p:cNvSpPr txBox="1"/>
          <p:nvPr/>
        </p:nvSpPr>
        <p:spPr>
          <a:xfrm>
            <a:off x="2794658" y="1944604"/>
            <a:ext cx="2310170" cy="57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name = "Mohammed"</a:t>
            </a:r>
            <a:endParaRPr lang="en-US" sz="1700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age = 22</a:t>
            </a:r>
            <a:endParaRPr lang="en-US" sz="1700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579956" y="8400359"/>
            <a:ext cx="6472357" cy="871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name = input("Your Name")</a:t>
            </a:r>
            <a:endParaRPr lang="en-US" sz="1700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age = input("Your Age ")</a:t>
            </a:r>
            <a:endParaRPr lang="en-US" sz="1700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print("Your Name is", name, "، Your age is", age, "years old.")</a:t>
            </a:r>
            <a:endParaRPr lang="en-US" sz="1700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709357" y="3983373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951509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951509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951509" y="5094059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951509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951509" y="6425585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951509" y="5759822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951509" y="7093216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951509" y="7760846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Freeform 35"/>
          <p:cNvSpPr/>
          <p:nvPr/>
        </p:nvSpPr>
        <p:spPr>
          <a:xfrm>
            <a:off x="5841299" y="2526154"/>
            <a:ext cx="5322330" cy="7355164"/>
          </a:xfrm>
          <a:custGeom>
            <a:avLst/>
            <a:gdLst/>
            <a:ahLst/>
            <a:cxnLst/>
            <a:rect l="l" t="t" r="r" b="b"/>
            <a:pathLst>
              <a:path w="5322330" h="7355164">
                <a:moveTo>
                  <a:pt x="0" y="0"/>
                </a:moveTo>
                <a:lnTo>
                  <a:pt x="5322329" y="0"/>
                </a:lnTo>
                <a:lnTo>
                  <a:pt x="5322329" y="7355164"/>
                </a:lnTo>
                <a:lnTo>
                  <a:pt x="0" y="735516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1762088" y="3144971"/>
            <a:ext cx="5230118" cy="5773507"/>
          </a:xfrm>
          <a:custGeom>
            <a:avLst/>
            <a:gdLst/>
            <a:ahLst/>
            <a:cxnLst/>
            <a:rect l="l" t="t" r="r" b="b"/>
            <a:pathLst>
              <a:path w="5230118" h="5773507">
                <a:moveTo>
                  <a:pt x="0" y="0"/>
                </a:moveTo>
                <a:lnTo>
                  <a:pt x="5230118" y="0"/>
                </a:lnTo>
                <a:lnTo>
                  <a:pt x="5230118" y="5773507"/>
                </a:lnTo>
                <a:lnTo>
                  <a:pt x="0" y="5773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2604120" y="885825"/>
            <a:ext cx="7824944" cy="1285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Operators</a:t>
            </a:r>
            <a:endParaRPr lang="en-US" sz="7500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155124" y="4899025"/>
            <a:ext cx="418458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Arithmetic Operators</a:t>
            </a:r>
            <a:endParaRPr lang="en-US" sz="2500" b="1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2404677" y="8861328"/>
            <a:ext cx="418458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Comparison Operators</a:t>
            </a:r>
            <a:endParaRPr lang="en-US" sz="2500" b="1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3074714" y="2114546"/>
            <a:ext cx="418458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 rtl="1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Logical Operators</a:t>
            </a:r>
            <a:endParaRPr lang="en-US" sz="2500" b="1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464458" y="5393389"/>
            <a:ext cx="418458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+ - * /    //    % **</a:t>
            </a:r>
            <a:endParaRPr lang="en-US" sz="2500">
              <a:solidFill>
                <a:srgbClr val="00000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2807620" y="9340753"/>
            <a:ext cx="418458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== =! &lt; &gt; =&lt; =&gt;</a:t>
            </a:r>
            <a:endParaRPr lang="en-US" sz="2500">
              <a:solidFill>
                <a:srgbClr val="00000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3396778" y="2590962"/>
            <a:ext cx="4184586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and or not</a:t>
            </a:r>
            <a:endParaRPr lang="en-US" sz="2500">
              <a:solidFill>
                <a:srgbClr val="00000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Freeform 35"/>
          <p:cNvSpPr/>
          <p:nvPr/>
        </p:nvSpPr>
        <p:spPr>
          <a:xfrm>
            <a:off x="9699199" y="2067576"/>
            <a:ext cx="8307726" cy="7394017"/>
          </a:xfrm>
          <a:custGeom>
            <a:avLst/>
            <a:gdLst/>
            <a:ahLst/>
            <a:cxnLst/>
            <a:rect l="l" t="t" r="r" b="b"/>
            <a:pathLst>
              <a:path w="8307726" h="7394017">
                <a:moveTo>
                  <a:pt x="0" y="0"/>
                </a:moveTo>
                <a:lnTo>
                  <a:pt x="8307726" y="0"/>
                </a:lnTo>
                <a:lnTo>
                  <a:pt x="8307726" y="7394017"/>
                </a:lnTo>
                <a:lnTo>
                  <a:pt x="0" y="739401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2698406" y="1218916"/>
            <a:ext cx="7824944" cy="1285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Conditions</a:t>
            </a:r>
            <a:endParaRPr lang="en-US" sz="7500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919159" y="2867627"/>
            <a:ext cx="5856698" cy="437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b="1" u="none" strike="noStrik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if (</a:t>
            </a:r>
            <a:r>
              <a:rPr lang="ar-EG" sz="2500" b="1" u="none" strike="noStrik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  <a:rtl val="1"/>
              </a:rPr>
              <a:t>شرط</a:t>
            </a:r>
            <a:r>
              <a:rPr lang="en-US" sz="2500" b="1" u="none" strike="noStrik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):</a:t>
            </a:r>
            <a:endParaRPr lang="en-US" sz="2500" b="1" u="none" strike="noStrike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u="none" strike="noStrike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 # Executes this code if the condition is true (True)</a:t>
            </a:r>
            <a:endParaRPr lang="en-US" sz="2500" u="none" strike="noStrike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b="1" u="none" strike="noStrik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elif (</a:t>
            </a:r>
            <a:r>
              <a:rPr lang="ar-EG" sz="2500" b="1" u="none" strike="noStrik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  <a:rtl val="1"/>
              </a:rPr>
              <a:t>شرط آخر</a:t>
            </a:r>
            <a:r>
              <a:rPr lang="en-US" sz="2500" b="1" u="none" strike="noStrik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):</a:t>
            </a:r>
            <a:endParaRPr lang="en-US" sz="2500" b="1" u="none" strike="noStrike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u="none" strike="noStrike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    # This code is executed if the first one does not materialize but the second one does</a:t>
            </a:r>
            <a:endParaRPr lang="en-US" sz="2500" u="none" strike="noStrike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b="1" u="none" strike="noStrike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else</a:t>
            </a:r>
            <a:r>
              <a:rPr lang="en-US" sz="2500" u="none" strike="noStrike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:</a:t>
            </a:r>
            <a:endParaRPr lang="en-US" sz="2500" u="none" strike="noStrike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0" lvl="0" indent="0" algn="ctr">
              <a:lnSpc>
                <a:spcPts val="3500"/>
              </a:lnSpc>
              <a:spcBef>
                <a:spcPct val="0"/>
              </a:spcBef>
            </a:pPr>
            <a:r>
              <a:rPr lang="en-US" sz="2500" u="none" strike="noStrike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# Executes this code if no condition is met</a:t>
            </a:r>
            <a:endParaRPr lang="en-US" sz="2500" u="none" strike="noStrike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735588" y="5318634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977741" y="6425585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977741" y="7093216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977741" y="7760846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Freeform 35"/>
          <p:cNvSpPr/>
          <p:nvPr/>
        </p:nvSpPr>
        <p:spPr>
          <a:xfrm>
            <a:off x="2651595" y="2705882"/>
            <a:ext cx="6807987" cy="7716512"/>
          </a:xfrm>
          <a:custGeom>
            <a:avLst/>
            <a:gdLst/>
            <a:ahLst/>
            <a:cxnLst/>
            <a:rect l="l" t="t" r="r" b="b"/>
            <a:pathLst>
              <a:path w="6807987" h="7716512">
                <a:moveTo>
                  <a:pt x="0" y="0"/>
                </a:moveTo>
                <a:lnTo>
                  <a:pt x="6807987" y="0"/>
                </a:lnTo>
                <a:lnTo>
                  <a:pt x="6807987" y="7716512"/>
                </a:lnTo>
                <a:lnTo>
                  <a:pt x="0" y="771651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061" b="-2745"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9984627" y="2743592"/>
            <a:ext cx="6708337" cy="7678802"/>
          </a:xfrm>
          <a:custGeom>
            <a:avLst/>
            <a:gdLst/>
            <a:ahLst/>
            <a:cxnLst/>
            <a:rect l="l" t="t" r="r" b="b"/>
            <a:pathLst>
              <a:path w="6708337" h="7678802">
                <a:moveTo>
                  <a:pt x="0" y="0"/>
                </a:moveTo>
                <a:lnTo>
                  <a:pt x="6708337" y="0"/>
                </a:lnTo>
                <a:lnTo>
                  <a:pt x="6708337" y="7678802"/>
                </a:lnTo>
                <a:lnTo>
                  <a:pt x="0" y="7678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2859440" y="973737"/>
            <a:ext cx="8021630" cy="140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40"/>
              </a:lnSpc>
              <a:spcBef>
                <a:spcPct val="0"/>
              </a:spcBef>
            </a:pPr>
            <a:r>
              <a:rPr lang="en-US" sz="8245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Loops</a:t>
            </a:r>
            <a:endParaRPr lang="en-US" sz="8245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2859440" y="2251880"/>
            <a:ext cx="14983480" cy="348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rPr>
              <a:t>An instruction that leaves the program to repeat a set of commands multiple times until a certain condition is met</a:t>
            </a:r>
            <a:endParaRPr lang="en-US" sz="2025">
              <a:solidFill>
                <a:srgbClr val="191919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735588" y="5976927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977741" y="7093216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977741" y="7760846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2694089" y="1244970"/>
            <a:ext cx="6888382" cy="8691132"/>
          </a:xfrm>
          <a:custGeom>
            <a:avLst/>
            <a:gdLst/>
            <a:ahLst/>
            <a:cxnLst/>
            <a:rect l="l" t="t" r="r" b="b"/>
            <a:pathLst>
              <a:path w="6888382" h="8691132">
                <a:moveTo>
                  <a:pt x="0" y="0"/>
                </a:moveTo>
                <a:lnTo>
                  <a:pt x="6888382" y="0"/>
                </a:lnTo>
                <a:lnTo>
                  <a:pt x="6888382" y="8691132"/>
                </a:lnTo>
                <a:lnTo>
                  <a:pt x="0" y="869113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r="-22485"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1289662" y="4198125"/>
            <a:ext cx="6367106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A list is a set of ordered values that can</a:t>
            </a:r>
            <a:endParaRPr lang="en-US" sz="2500" b="1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contain all types of data</a:t>
            </a:r>
            <a:endParaRPr lang="en-US" sz="2500" b="1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3800690" y="5261484"/>
            <a:ext cx="1345049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Ordered</a:t>
            </a:r>
            <a:endParaRPr lang="en-US" sz="2500" b="1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Mutable</a:t>
            </a:r>
            <a:endParaRPr lang="en-US" sz="2500" b="1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735588" y="6653894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977741" y="7760846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5" name="AutoShape 35"/>
          <p:cNvSpPr/>
          <p:nvPr/>
        </p:nvSpPr>
        <p:spPr>
          <a:xfrm flipH="1">
            <a:off x="10184500" y="3323929"/>
            <a:ext cx="8108020" cy="0"/>
          </a:xfrm>
          <a:prstGeom prst="line">
            <a:avLst/>
          </a:prstGeom>
          <a:ln w="19050" cap="rnd">
            <a:solidFill>
              <a:srgbClr val="010D5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6" name="Group 36"/>
          <p:cNvGrpSpPr/>
          <p:nvPr/>
        </p:nvGrpSpPr>
        <p:grpSpPr>
          <a:xfrm rot="0">
            <a:off x="5416236" y="8207240"/>
            <a:ext cx="7024251" cy="1580957"/>
            <a:chOff x="0" y="0"/>
            <a:chExt cx="1850009" cy="4163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850009" cy="416384"/>
            </a:xfrm>
            <a:custGeom>
              <a:avLst/>
              <a:gdLst/>
              <a:ahLst/>
              <a:cxnLst/>
              <a:rect l="l" t="t" r="r" b="b"/>
              <a:pathLst>
                <a:path w="1850009" h="416384">
                  <a:moveTo>
                    <a:pt x="60619" y="0"/>
                  </a:moveTo>
                  <a:lnTo>
                    <a:pt x="1789389" y="0"/>
                  </a:lnTo>
                  <a:cubicBezTo>
                    <a:pt x="1822868" y="0"/>
                    <a:pt x="1850009" y="27140"/>
                    <a:pt x="1850009" y="60619"/>
                  </a:cubicBezTo>
                  <a:lnTo>
                    <a:pt x="1850009" y="355764"/>
                  </a:lnTo>
                  <a:cubicBezTo>
                    <a:pt x="1850009" y="371842"/>
                    <a:pt x="1843622" y="387260"/>
                    <a:pt x="1832254" y="398629"/>
                  </a:cubicBezTo>
                  <a:cubicBezTo>
                    <a:pt x="1820885" y="409997"/>
                    <a:pt x="1805467" y="416384"/>
                    <a:pt x="1789389" y="416384"/>
                  </a:cubicBezTo>
                  <a:lnTo>
                    <a:pt x="60619" y="416384"/>
                  </a:lnTo>
                  <a:cubicBezTo>
                    <a:pt x="27140" y="416384"/>
                    <a:pt x="0" y="389244"/>
                    <a:pt x="0" y="355764"/>
                  </a:cubicBezTo>
                  <a:lnTo>
                    <a:pt x="0" y="60619"/>
                  </a:lnTo>
                  <a:cubicBezTo>
                    <a:pt x="0" y="44542"/>
                    <a:pt x="6387" y="29123"/>
                    <a:pt x="17755" y="17755"/>
                  </a:cubicBezTo>
                  <a:cubicBezTo>
                    <a:pt x="29123" y="6387"/>
                    <a:pt x="44542" y="0"/>
                    <a:pt x="60619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66675"/>
              <a:ext cx="1850009" cy="4830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080"/>
                </a:lnSpc>
              </a:pPr>
            </a:p>
          </p:txBody>
        </p:sp>
      </p:grpSp>
      <p:sp>
        <p:nvSpPr>
          <p:cNvPr id="39" name="Freeform 39"/>
          <p:cNvSpPr/>
          <p:nvPr/>
        </p:nvSpPr>
        <p:spPr>
          <a:xfrm>
            <a:off x="14097180" y="7870825"/>
            <a:ext cx="2139927" cy="2139927"/>
          </a:xfrm>
          <a:custGeom>
            <a:avLst/>
            <a:gdLst/>
            <a:ahLst/>
            <a:cxnLst/>
            <a:rect l="l" t="t" r="r" b="b"/>
            <a:pathLst>
              <a:path w="2139927" h="2139927">
                <a:moveTo>
                  <a:pt x="0" y="0"/>
                </a:moveTo>
                <a:lnTo>
                  <a:pt x="2139927" y="0"/>
                </a:lnTo>
                <a:lnTo>
                  <a:pt x="2139927" y="2139927"/>
                </a:lnTo>
                <a:lnTo>
                  <a:pt x="0" y="213992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2620961" y="7760846"/>
            <a:ext cx="2249906" cy="2249906"/>
          </a:xfrm>
          <a:custGeom>
            <a:avLst/>
            <a:gdLst/>
            <a:ahLst/>
            <a:cxnLst/>
            <a:rect l="l" t="t" r="r" b="b"/>
            <a:pathLst>
              <a:path w="2249906" h="2249906">
                <a:moveTo>
                  <a:pt x="0" y="0"/>
                </a:moveTo>
                <a:lnTo>
                  <a:pt x="2249906" y="0"/>
                </a:lnTo>
                <a:lnTo>
                  <a:pt x="2249906" y="2249906"/>
                </a:lnTo>
                <a:lnTo>
                  <a:pt x="0" y="22499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2928863" y="1209907"/>
            <a:ext cx="6215137" cy="220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3500"/>
              </a:lnSpc>
            </a:pPr>
            <a:r>
              <a:rPr lang="ar-EG" sz="2500">
                <a:solidFill>
                  <a:srgbClr val="000000"/>
                </a:solidFill>
                <a:latin typeface="Hacen Tunisia Light" panose="02000500000000000000"/>
                <a:ea typeface="Hacen Tunisia Light" panose="02000500000000000000"/>
                <a:cs typeface="Hacen Tunisia Light" panose="02000500000000000000"/>
                <a:sym typeface="Hacen Tunisia Light" panose="02000500000000000000"/>
                <a:rtl val="1"/>
              </a:rPr>
              <a:t> هي مؤسسة تدريب </a:t>
            </a:r>
            <a:r>
              <a:rPr lang="ar-EG" sz="2500">
                <a:solidFill>
                  <a:srgbClr val="000000"/>
                </a:solidFill>
                <a:latin typeface="Hacen Tunisia Light" panose="02000500000000000000"/>
                <a:ea typeface="Hacen Tunisia Light" panose="02000500000000000000"/>
                <a:cs typeface="Hacen Tunisia Light" panose="02000500000000000000"/>
                <a:sym typeface="Hacen Tunisia Light" panose="02000500000000000000"/>
                <a:rtl val="1"/>
              </a:rPr>
              <a:t>وتطوير رقمي تجمع بين التعليم التطبيقي، والإنتاج التقني، وريادة الأعمال.</a:t>
            </a:r>
            <a:endParaRPr lang="ar-EG" sz="2500">
              <a:solidFill>
                <a:srgbClr val="000000"/>
              </a:solidFill>
              <a:latin typeface="Hacen Tunisia Light" panose="02000500000000000000"/>
              <a:ea typeface="Hacen Tunisia Light" panose="02000500000000000000"/>
              <a:cs typeface="Hacen Tunisia Light" panose="02000500000000000000"/>
              <a:sym typeface="Hacen Tunisia Light" panose="02000500000000000000"/>
              <a:rtl val="1"/>
            </a:endParaRPr>
          </a:p>
          <a:p>
            <a:pPr algn="just" rtl="1">
              <a:lnSpc>
                <a:spcPts val="3500"/>
              </a:lnSpc>
            </a:pPr>
            <a:r>
              <a:rPr lang="ar-EG" sz="2500">
                <a:solidFill>
                  <a:srgbClr val="000000"/>
                </a:solidFill>
                <a:latin typeface="Hacen Tunisia Light" panose="02000500000000000000"/>
                <a:ea typeface="Hacen Tunisia Light" panose="02000500000000000000"/>
                <a:cs typeface="Hacen Tunisia Light" panose="02000500000000000000"/>
                <a:sym typeface="Hacen Tunisia Light" panose="02000500000000000000"/>
                <a:rtl val="1"/>
              </a:rPr>
              <a:t> نعمل كنظام متكامل يربط بين الطالب والسوق من خلال برامج تدريبية، مشاريع  تقنية أو رقمية، ومنتجات تعليمية متطورة.</a:t>
            </a:r>
            <a:endParaRPr lang="ar-EG" sz="2500">
              <a:solidFill>
                <a:srgbClr val="000000"/>
              </a:solidFill>
              <a:latin typeface="Hacen Tunisia Light" panose="02000500000000000000"/>
              <a:ea typeface="Hacen Tunisia Light" panose="02000500000000000000"/>
              <a:cs typeface="Hacen Tunisia Light" panose="02000500000000000000"/>
              <a:sym typeface="Hacen Tunisia Light" panose="02000500000000000000"/>
              <a:rtl val="1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0935059" y="1303994"/>
            <a:ext cx="6324241" cy="2019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7840"/>
              </a:lnSpc>
              <a:spcBef>
                <a:spcPct val="0"/>
              </a:spcBef>
            </a:pPr>
            <a:r>
              <a:rPr lang="ar-EG" sz="5600">
                <a:solidFill>
                  <a:srgbClr val="FD6220"/>
                </a:solidFill>
                <a:latin typeface="Hacen Tunisia Bold" panose="02000500000000000000"/>
                <a:ea typeface="Hacen Tunisia Bold" panose="02000500000000000000"/>
                <a:cs typeface="Hacen Tunisia Bold" panose="02000500000000000000"/>
                <a:sym typeface="Hacen Tunisia Bold" panose="02000500000000000000"/>
                <a:rtl val="1"/>
              </a:rPr>
              <a:t>الهيكل العام لمؤسسة</a:t>
            </a:r>
            <a:endParaRPr lang="ar-EG" sz="5600">
              <a:solidFill>
                <a:srgbClr val="FD6220"/>
              </a:solidFill>
              <a:latin typeface="Hacen Tunisia Bold" panose="02000500000000000000"/>
              <a:ea typeface="Hacen Tunisia Bold" panose="02000500000000000000"/>
              <a:cs typeface="Hacen Tunisia Bold" panose="02000500000000000000"/>
              <a:sym typeface="Hacen Tunisia Bold" panose="02000500000000000000"/>
              <a:rtl val="1"/>
            </a:endParaRPr>
          </a:p>
          <a:p>
            <a:pPr algn="r" rtl="1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D6220"/>
                </a:solidFill>
                <a:latin typeface="Hacen Tunisia Bold" panose="02000500000000000000"/>
                <a:ea typeface="Hacen Tunisia Bold" panose="02000500000000000000"/>
                <a:cs typeface="Hacen Tunisia Bold" panose="02000500000000000000"/>
                <a:sym typeface="Hacen Tunisia Bold" panose="02000500000000000000"/>
              </a:rPr>
              <a:t>MZ Collage Labs</a:t>
            </a:r>
            <a:endParaRPr lang="en-US" sz="5600">
              <a:solidFill>
                <a:srgbClr val="FD6220"/>
              </a:solidFill>
              <a:latin typeface="Hacen Tunisia Bold" panose="02000500000000000000"/>
              <a:ea typeface="Hacen Tunisia Bold" panose="02000500000000000000"/>
              <a:cs typeface="Hacen Tunisia Bold" panose="02000500000000000000"/>
              <a:sym typeface="Hacen Tunisia Bold" panose="02000500000000000000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5602643" y="8551925"/>
            <a:ext cx="6363327" cy="812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6160"/>
              </a:lnSpc>
            </a:pPr>
            <a:r>
              <a:rPr lang="ar-EG" sz="4400">
                <a:solidFill>
                  <a:srgbClr val="F0F0F0"/>
                </a:solidFill>
                <a:latin typeface="Hacen Tunisia Bold" panose="02000500000000000000"/>
                <a:ea typeface="Hacen Tunisia Bold" panose="02000500000000000000"/>
                <a:cs typeface="Hacen Tunisia Bold" panose="02000500000000000000"/>
                <a:sym typeface="Hacen Tunisia Bold" panose="02000500000000000000"/>
                <a:rtl val="1"/>
              </a:rPr>
              <a:t>نتعلم لنُبدع... نُبدع لنبني.</a:t>
            </a:r>
            <a:endParaRPr lang="ar-EG" sz="4400">
              <a:solidFill>
                <a:srgbClr val="F0F0F0"/>
              </a:solidFill>
              <a:latin typeface="Hacen Tunisia Bold" panose="02000500000000000000"/>
              <a:ea typeface="Hacen Tunisia Bold" panose="02000500000000000000"/>
              <a:cs typeface="Hacen Tunisia Bold" panose="02000500000000000000"/>
              <a:sym typeface="Hacen Tunisia Bold" panose="02000500000000000000"/>
              <a:rtl val="1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3225761" y="3914096"/>
            <a:ext cx="3219688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 rtl="1">
              <a:lnSpc>
                <a:spcPts val="5600"/>
              </a:lnSpc>
              <a:spcBef>
                <a:spcPct val="0"/>
              </a:spcBef>
            </a:pPr>
            <a:r>
              <a:rPr lang="ar-EG" sz="4000" u="none" strike="noStrike">
                <a:solidFill>
                  <a:srgbClr val="F0532F"/>
                </a:solidFill>
                <a:latin typeface="Hacen Tunisia Bold" panose="02000500000000000000"/>
                <a:ea typeface="Hacen Tunisia Bold" panose="02000500000000000000"/>
                <a:cs typeface="Hacen Tunisia Bold" panose="02000500000000000000"/>
                <a:sym typeface="Hacen Tunisia Bold" panose="02000500000000000000"/>
                <a:rtl val="1"/>
              </a:rPr>
              <a:t>التكوين التطبيقي</a:t>
            </a:r>
            <a:endParaRPr lang="ar-EG" sz="4000" u="none" strike="noStrike">
              <a:solidFill>
                <a:srgbClr val="F0532F"/>
              </a:solidFill>
              <a:latin typeface="Hacen Tunisia Bold" panose="02000500000000000000"/>
              <a:ea typeface="Hacen Tunisia Bold" panose="02000500000000000000"/>
              <a:cs typeface="Hacen Tunisia Bold" panose="02000500000000000000"/>
              <a:sym typeface="Hacen Tunisia Bold" panose="02000500000000000000"/>
              <a:rtl val="1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8288142" y="4031888"/>
            <a:ext cx="2835235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 rtl="1">
              <a:lnSpc>
                <a:spcPts val="5600"/>
              </a:lnSpc>
              <a:spcBef>
                <a:spcPct val="0"/>
              </a:spcBef>
            </a:pPr>
            <a:r>
              <a:rPr lang="ar-EG" sz="4000" u="none" strike="noStrike">
                <a:solidFill>
                  <a:srgbClr val="F0532F"/>
                </a:solidFill>
                <a:latin typeface="Hacen Tunisia Bold" panose="02000500000000000000"/>
                <a:ea typeface="Hacen Tunisia Bold" panose="02000500000000000000"/>
                <a:cs typeface="Hacen Tunisia Bold" panose="02000500000000000000"/>
                <a:sym typeface="Hacen Tunisia Bold" panose="02000500000000000000"/>
                <a:rtl val="1"/>
              </a:rPr>
              <a:t>الخدمات التقنية</a:t>
            </a:r>
            <a:endParaRPr lang="ar-EG" sz="4000" u="none" strike="noStrike">
              <a:solidFill>
                <a:srgbClr val="F0532F"/>
              </a:solidFill>
              <a:latin typeface="Hacen Tunisia Bold" panose="02000500000000000000"/>
              <a:ea typeface="Hacen Tunisia Bold" panose="02000500000000000000"/>
              <a:cs typeface="Hacen Tunisia Bold" panose="02000500000000000000"/>
              <a:sym typeface="Hacen Tunisia Bold" panose="02000500000000000000"/>
              <a:rtl val="1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2620961" y="4031888"/>
            <a:ext cx="3324582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 rtl="1">
              <a:lnSpc>
                <a:spcPts val="5600"/>
              </a:lnSpc>
              <a:spcBef>
                <a:spcPct val="0"/>
              </a:spcBef>
            </a:pPr>
            <a:r>
              <a:rPr lang="ar-EG" sz="4000" u="none" strike="noStrike">
                <a:solidFill>
                  <a:srgbClr val="F0532F"/>
                </a:solidFill>
                <a:latin typeface="Hacen Tunisia Bold" panose="02000500000000000000"/>
                <a:ea typeface="Hacen Tunisia Bold" panose="02000500000000000000"/>
                <a:cs typeface="Hacen Tunisia Bold" panose="02000500000000000000"/>
                <a:sym typeface="Hacen Tunisia Bold" panose="02000500000000000000"/>
                <a:rtl val="1"/>
              </a:rPr>
              <a:t>المنتجات التعليمية</a:t>
            </a:r>
            <a:endParaRPr lang="ar-EG" sz="4000" u="none" strike="noStrike">
              <a:solidFill>
                <a:srgbClr val="F0532F"/>
              </a:solidFill>
              <a:latin typeface="Hacen Tunisia Bold" panose="02000500000000000000"/>
              <a:ea typeface="Hacen Tunisia Bold" panose="02000500000000000000"/>
              <a:cs typeface="Hacen Tunisia Bold" panose="02000500000000000000"/>
              <a:sym typeface="Hacen Tunisia Bold" panose="02000500000000000000"/>
              <a:rtl val="1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3482936" y="4860925"/>
            <a:ext cx="3378994" cy="268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200"/>
              </a:lnSpc>
              <a:spcBef>
                <a:spcPct val="0"/>
              </a:spcBef>
            </a:pPr>
            <a:r>
              <a:rPr lang="ar-EG" sz="3000">
                <a:solidFill>
                  <a:srgbClr val="000000"/>
                </a:solidFill>
                <a:latin typeface="Hacen Tunisia Light" panose="02000500000000000000"/>
                <a:ea typeface="Hacen Tunisia Light" panose="02000500000000000000"/>
                <a:cs typeface="Hacen Tunisia Light" panose="02000500000000000000"/>
                <a:sym typeface="Hacen Tunisia Light" panose="02000500000000000000"/>
                <a:rtl val="1"/>
              </a:rPr>
              <a:t>دورات تدريبية عملية في </a:t>
            </a:r>
            <a:endParaRPr lang="ar-EG" sz="3000">
              <a:solidFill>
                <a:srgbClr val="000000"/>
              </a:solidFill>
              <a:latin typeface="Hacen Tunisia Light" panose="02000500000000000000"/>
              <a:ea typeface="Hacen Tunisia Light" panose="02000500000000000000"/>
              <a:cs typeface="Hacen Tunisia Light" panose="02000500000000000000"/>
              <a:sym typeface="Hacen Tunisia Light" panose="02000500000000000000"/>
              <a:rtl val="1"/>
            </a:endParaRPr>
          </a:p>
          <a:p>
            <a:pPr algn="ctr" rtl="1">
              <a:lnSpc>
                <a:spcPts val="4200"/>
              </a:lnSpc>
              <a:spcBef>
                <a:spcPct val="0"/>
              </a:spcBef>
            </a:pPr>
            <a:r>
              <a:rPr lang="ar-EG" sz="3000">
                <a:solidFill>
                  <a:srgbClr val="000000"/>
                </a:solidFill>
                <a:latin typeface="Hacen Tunisia Light" panose="02000500000000000000"/>
                <a:ea typeface="Hacen Tunisia Light" panose="02000500000000000000"/>
                <a:cs typeface="Hacen Tunisia Light" panose="02000500000000000000"/>
                <a:sym typeface="Hacen Tunisia Light" panose="02000500000000000000"/>
                <a:rtl val="1"/>
              </a:rPr>
              <a:t>البرمجة، </a:t>
            </a:r>
            <a:endParaRPr lang="ar-EG" sz="3000">
              <a:solidFill>
                <a:srgbClr val="000000"/>
              </a:solidFill>
              <a:latin typeface="Hacen Tunisia Light" panose="02000500000000000000"/>
              <a:ea typeface="Hacen Tunisia Light" panose="02000500000000000000"/>
              <a:cs typeface="Hacen Tunisia Light" panose="02000500000000000000"/>
              <a:sym typeface="Hacen Tunisia Light" panose="02000500000000000000"/>
              <a:rtl val="1"/>
            </a:endParaRPr>
          </a:p>
          <a:p>
            <a:pPr algn="ctr" rtl="1">
              <a:lnSpc>
                <a:spcPts val="4200"/>
              </a:lnSpc>
              <a:spcBef>
                <a:spcPct val="0"/>
              </a:spcBef>
            </a:pPr>
            <a:r>
              <a:rPr lang="ar-EG" sz="3000">
                <a:solidFill>
                  <a:srgbClr val="000000"/>
                </a:solidFill>
                <a:latin typeface="Hacen Tunisia Light" panose="02000500000000000000"/>
                <a:ea typeface="Hacen Tunisia Light" panose="02000500000000000000"/>
                <a:cs typeface="Hacen Tunisia Light" panose="02000500000000000000"/>
                <a:sym typeface="Hacen Tunisia Light" panose="02000500000000000000"/>
                <a:rtl val="1"/>
              </a:rPr>
              <a:t>لتصميم، </a:t>
            </a:r>
            <a:endParaRPr lang="ar-EG" sz="3000">
              <a:solidFill>
                <a:srgbClr val="000000"/>
              </a:solidFill>
              <a:latin typeface="Hacen Tunisia Light" panose="02000500000000000000"/>
              <a:ea typeface="Hacen Tunisia Light" panose="02000500000000000000"/>
              <a:cs typeface="Hacen Tunisia Light" panose="02000500000000000000"/>
              <a:sym typeface="Hacen Tunisia Light" panose="02000500000000000000"/>
              <a:rtl val="1"/>
            </a:endParaRPr>
          </a:p>
          <a:p>
            <a:pPr algn="ctr" rtl="1">
              <a:lnSpc>
                <a:spcPts val="4200"/>
              </a:lnSpc>
              <a:spcBef>
                <a:spcPct val="0"/>
              </a:spcBef>
            </a:pPr>
            <a:r>
              <a:rPr lang="ar-EG" sz="3000">
                <a:solidFill>
                  <a:srgbClr val="000000"/>
                </a:solidFill>
                <a:latin typeface="Hacen Tunisia Light" panose="02000500000000000000"/>
                <a:ea typeface="Hacen Tunisia Light" panose="02000500000000000000"/>
                <a:cs typeface="Hacen Tunisia Light" panose="02000500000000000000"/>
                <a:sym typeface="Hacen Tunisia Light" panose="02000500000000000000"/>
                <a:rtl val="1"/>
              </a:rPr>
              <a:t>الإلكترونيات، </a:t>
            </a:r>
            <a:endParaRPr lang="ar-EG" sz="3000">
              <a:solidFill>
                <a:srgbClr val="000000"/>
              </a:solidFill>
              <a:latin typeface="Hacen Tunisia Light" panose="02000500000000000000"/>
              <a:ea typeface="Hacen Tunisia Light" panose="02000500000000000000"/>
              <a:cs typeface="Hacen Tunisia Light" panose="02000500000000000000"/>
              <a:sym typeface="Hacen Tunisia Light" panose="02000500000000000000"/>
              <a:rtl val="1"/>
            </a:endParaRPr>
          </a:p>
          <a:p>
            <a:pPr algn="ctr" rtl="1">
              <a:lnSpc>
                <a:spcPts val="4200"/>
              </a:lnSpc>
              <a:spcBef>
                <a:spcPct val="0"/>
              </a:spcBef>
            </a:pPr>
            <a:r>
              <a:rPr lang="ar-EG" sz="3000">
                <a:solidFill>
                  <a:srgbClr val="000000"/>
                </a:solidFill>
                <a:latin typeface="Hacen Tunisia Light" panose="02000500000000000000"/>
                <a:ea typeface="Hacen Tunisia Light" panose="02000500000000000000"/>
                <a:cs typeface="Hacen Tunisia Light" panose="02000500000000000000"/>
                <a:sym typeface="Hacen Tunisia Light" panose="02000500000000000000"/>
                <a:rtl val="1"/>
              </a:rPr>
              <a:t>والطاقة.</a:t>
            </a:r>
            <a:endParaRPr lang="ar-EG" sz="3000">
              <a:solidFill>
                <a:srgbClr val="000000"/>
              </a:solidFill>
              <a:latin typeface="Hacen Tunisia Light" panose="02000500000000000000"/>
              <a:ea typeface="Hacen Tunisia Light" panose="02000500000000000000"/>
              <a:cs typeface="Hacen Tunisia Light" panose="02000500000000000000"/>
              <a:sym typeface="Hacen Tunisia Light" panose="02000500000000000000"/>
              <a:rtl val="1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8085974" y="4940362"/>
            <a:ext cx="3430072" cy="268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200"/>
              </a:lnSpc>
              <a:spcBef>
                <a:spcPct val="0"/>
              </a:spcBef>
            </a:pPr>
            <a:r>
              <a:rPr lang="ar-EG" sz="3000">
                <a:solidFill>
                  <a:srgbClr val="000000"/>
                </a:solidFill>
                <a:latin typeface="Hacen Tunisia Light" panose="02000500000000000000"/>
                <a:ea typeface="Hacen Tunisia Light" panose="02000500000000000000"/>
                <a:cs typeface="Hacen Tunisia Light" panose="02000500000000000000"/>
                <a:sym typeface="Hacen Tunisia Light" panose="02000500000000000000"/>
                <a:rtl val="1"/>
              </a:rPr>
              <a:t>تصميم مواقع وتطبيقات، </a:t>
            </a:r>
            <a:endParaRPr lang="ar-EG" sz="3000">
              <a:solidFill>
                <a:srgbClr val="000000"/>
              </a:solidFill>
              <a:latin typeface="Hacen Tunisia Light" panose="02000500000000000000"/>
              <a:ea typeface="Hacen Tunisia Light" panose="02000500000000000000"/>
              <a:cs typeface="Hacen Tunisia Light" panose="02000500000000000000"/>
              <a:sym typeface="Hacen Tunisia Light" panose="02000500000000000000"/>
              <a:rtl val="1"/>
            </a:endParaRPr>
          </a:p>
          <a:p>
            <a:pPr algn="ctr" rtl="1">
              <a:lnSpc>
                <a:spcPts val="4200"/>
              </a:lnSpc>
              <a:spcBef>
                <a:spcPct val="0"/>
              </a:spcBef>
            </a:pPr>
            <a:r>
              <a:rPr lang="ar-EG" sz="3000">
                <a:solidFill>
                  <a:srgbClr val="000000"/>
                </a:solidFill>
                <a:latin typeface="Hacen Tunisia Light" panose="02000500000000000000"/>
                <a:ea typeface="Hacen Tunisia Light" panose="02000500000000000000"/>
                <a:cs typeface="Hacen Tunisia Light" panose="02000500000000000000"/>
                <a:sym typeface="Hacen Tunisia Light" panose="02000500000000000000"/>
                <a:rtl val="1"/>
              </a:rPr>
              <a:t>تطوير البرمجيات، </a:t>
            </a:r>
            <a:endParaRPr lang="ar-EG" sz="3000">
              <a:solidFill>
                <a:srgbClr val="000000"/>
              </a:solidFill>
              <a:latin typeface="Hacen Tunisia Light" panose="02000500000000000000"/>
              <a:ea typeface="Hacen Tunisia Light" panose="02000500000000000000"/>
              <a:cs typeface="Hacen Tunisia Light" panose="02000500000000000000"/>
              <a:sym typeface="Hacen Tunisia Light" panose="02000500000000000000"/>
              <a:rtl val="1"/>
            </a:endParaRPr>
          </a:p>
          <a:p>
            <a:pPr algn="ctr" rtl="1">
              <a:lnSpc>
                <a:spcPts val="4200"/>
              </a:lnSpc>
              <a:spcBef>
                <a:spcPct val="0"/>
              </a:spcBef>
            </a:pPr>
            <a:r>
              <a:rPr lang="ar-EG" sz="3000">
                <a:solidFill>
                  <a:srgbClr val="000000"/>
                </a:solidFill>
                <a:latin typeface="Hacen Tunisia Light" panose="02000500000000000000"/>
                <a:ea typeface="Hacen Tunisia Light" panose="02000500000000000000"/>
                <a:cs typeface="Hacen Tunisia Light" panose="02000500000000000000"/>
                <a:sym typeface="Hacen Tunisia Light" panose="02000500000000000000"/>
                <a:rtl val="1"/>
              </a:rPr>
              <a:t> وأنظمة ذكية والتحكم ،</a:t>
            </a:r>
            <a:endParaRPr lang="ar-EG" sz="3000">
              <a:solidFill>
                <a:srgbClr val="000000"/>
              </a:solidFill>
              <a:latin typeface="Hacen Tunisia Light" panose="02000500000000000000"/>
              <a:ea typeface="Hacen Tunisia Light" panose="02000500000000000000"/>
              <a:cs typeface="Hacen Tunisia Light" panose="02000500000000000000"/>
              <a:sym typeface="Hacen Tunisia Light" panose="02000500000000000000"/>
              <a:rtl val="1"/>
            </a:endParaRPr>
          </a:p>
          <a:p>
            <a:pPr algn="ctr" rtl="1">
              <a:lnSpc>
                <a:spcPts val="4200"/>
              </a:lnSpc>
              <a:spcBef>
                <a:spcPct val="0"/>
              </a:spcBef>
            </a:pPr>
            <a:r>
              <a:rPr lang="ar-EG" sz="3000">
                <a:solidFill>
                  <a:srgbClr val="000000"/>
                </a:solidFill>
                <a:latin typeface="Hacen Tunisia Light" panose="02000500000000000000"/>
                <a:ea typeface="Hacen Tunisia Light" panose="02000500000000000000"/>
                <a:cs typeface="Hacen Tunisia Light" panose="02000500000000000000"/>
                <a:sym typeface="Hacen Tunisia Light" panose="02000500000000000000"/>
                <a:rtl val="1"/>
              </a:rPr>
              <a:t>تصميم الجرافيكي، </a:t>
            </a:r>
            <a:endParaRPr lang="ar-EG" sz="3000">
              <a:solidFill>
                <a:srgbClr val="000000"/>
              </a:solidFill>
              <a:latin typeface="Hacen Tunisia Light" panose="02000500000000000000"/>
              <a:ea typeface="Hacen Tunisia Light" panose="02000500000000000000"/>
              <a:cs typeface="Hacen Tunisia Light" panose="02000500000000000000"/>
              <a:sym typeface="Hacen Tunisia Light" panose="02000500000000000000"/>
              <a:rtl val="1"/>
            </a:endParaRPr>
          </a:p>
          <a:p>
            <a:pPr algn="ctr" rtl="1">
              <a:lnSpc>
                <a:spcPts val="4200"/>
              </a:lnSpc>
              <a:spcBef>
                <a:spcPct val="0"/>
              </a:spcBef>
            </a:pPr>
            <a:r>
              <a:rPr lang="ar-EG" sz="3000">
                <a:solidFill>
                  <a:srgbClr val="000000"/>
                </a:solidFill>
                <a:latin typeface="Hacen Tunisia Light" panose="02000500000000000000"/>
                <a:ea typeface="Hacen Tunisia Light" panose="02000500000000000000"/>
                <a:cs typeface="Hacen Tunisia Light" panose="02000500000000000000"/>
                <a:sym typeface="Hacen Tunisia Light" panose="02000500000000000000"/>
                <a:rtl val="1"/>
              </a:rPr>
              <a:t>دراسات وإستشارات .</a:t>
            </a:r>
            <a:endParaRPr lang="ar-EG" sz="3000">
              <a:solidFill>
                <a:srgbClr val="000000"/>
              </a:solidFill>
              <a:latin typeface="Hacen Tunisia Light" panose="02000500000000000000"/>
              <a:ea typeface="Hacen Tunisia Light" panose="02000500000000000000"/>
              <a:cs typeface="Hacen Tunisia Light" panose="02000500000000000000"/>
              <a:sym typeface="Hacen Tunisia Light" panose="02000500000000000000"/>
              <a:rtl val="1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2649536" y="4940362"/>
            <a:ext cx="3379708" cy="215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4200"/>
              </a:lnSpc>
              <a:spcBef>
                <a:spcPct val="0"/>
              </a:spcBef>
            </a:pPr>
            <a:r>
              <a:rPr lang="ar-EG" sz="3000">
                <a:solidFill>
                  <a:srgbClr val="000000"/>
                </a:solidFill>
                <a:latin typeface="Hacen Tunisia Light" panose="02000500000000000000"/>
                <a:ea typeface="Hacen Tunisia Light" panose="02000500000000000000"/>
                <a:cs typeface="Hacen Tunisia Light" panose="02000500000000000000"/>
                <a:sym typeface="Hacen Tunisia Light" panose="02000500000000000000"/>
                <a:rtl val="1"/>
              </a:rPr>
              <a:t>محتوى تدريبي تفاعلي،</a:t>
            </a:r>
            <a:endParaRPr lang="ar-EG" sz="3000">
              <a:solidFill>
                <a:srgbClr val="000000"/>
              </a:solidFill>
              <a:latin typeface="Hacen Tunisia Light" panose="02000500000000000000"/>
              <a:ea typeface="Hacen Tunisia Light" panose="02000500000000000000"/>
              <a:cs typeface="Hacen Tunisia Light" panose="02000500000000000000"/>
              <a:sym typeface="Hacen Tunisia Light" panose="02000500000000000000"/>
              <a:rtl val="1"/>
            </a:endParaRPr>
          </a:p>
          <a:p>
            <a:pPr algn="ctr" rtl="1">
              <a:lnSpc>
                <a:spcPts val="4200"/>
              </a:lnSpc>
              <a:spcBef>
                <a:spcPct val="0"/>
              </a:spcBef>
            </a:pPr>
            <a:r>
              <a:rPr lang="ar-EG" sz="3000">
                <a:solidFill>
                  <a:srgbClr val="000000"/>
                </a:solidFill>
                <a:latin typeface="Hacen Tunisia Light" panose="02000500000000000000"/>
                <a:ea typeface="Hacen Tunisia Light" panose="02000500000000000000"/>
                <a:cs typeface="Hacen Tunisia Light" panose="02000500000000000000"/>
                <a:sym typeface="Hacen Tunisia Light" panose="02000500000000000000"/>
                <a:rtl val="1"/>
              </a:rPr>
              <a:t> دورات عبر الإنترنت، </a:t>
            </a:r>
            <a:endParaRPr lang="ar-EG" sz="3000">
              <a:solidFill>
                <a:srgbClr val="000000"/>
              </a:solidFill>
              <a:latin typeface="Hacen Tunisia Light" panose="02000500000000000000"/>
              <a:ea typeface="Hacen Tunisia Light" panose="02000500000000000000"/>
              <a:cs typeface="Hacen Tunisia Light" panose="02000500000000000000"/>
              <a:sym typeface="Hacen Tunisia Light" panose="02000500000000000000"/>
              <a:rtl val="1"/>
            </a:endParaRPr>
          </a:p>
          <a:p>
            <a:pPr algn="ctr" rtl="1">
              <a:lnSpc>
                <a:spcPts val="4200"/>
              </a:lnSpc>
              <a:spcBef>
                <a:spcPct val="0"/>
              </a:spcBef>
            </a:pPr>
            <a:r>
              <a:rPr lang="ar-EG" sz="3000">
                <a:solidFill>
                  <a:srgbClr val="000000"/>
                </a:solidFill>
                <a:latin typeface="Hacen Tunisia Light" panose="02000500000000000000"/>
                <a:ea typeface="Hacen Tunisia Light" panose="02000500000000000000"/>
                <a:cs typeface="Hacen Tunisia Light" panose="02000500000000000000"/>
                <a:sym typeface="Hacen Tunisia Light" panose="02000500000000000000"/>
                <a:rtl val="1"/>
              </a:rPr>
              <a:t>وأدوات تعلم ذاتي ، </a:t>
            </a:r>
            <a:endParaRPr lang="ar-EG" sz="3000">
              <a:solidFill>
                <a:srgbClr val="000000"/>
              </a:solidFill>
              <a:latin typeface="Hacen Tunisia Light" panose="02000500000000000000"/>
              <a:ea typeface="Hacen Tunisia Light" panose="02000500000000000000"/>
              <a:cs typeface="Hacen Tunisia Light" panose="02000500000000000000"/>
              <a:sym typeface="Hacen Tunisia Light" panose="02000500000000000000"/>
              <a:rtl val="1"/>
            </a:endParaRPr>
          </a:p>
          <a:p>
            <a:pPr algn="ctr" rtl="1">
              <a:lnSpc>
                <a:spcPts val="4200"/>
              </a:lnSpc>
              <a:spcBef>
                <a:spcPct val="0"/>
              </a:spcBef>
            </a:pPr>
            <a:r>
              <a:rPr lang="ar-EG" sz="3000">
                <a:solidFill>
                  <a:srgbClr val="000000"/>
                </a:solidFill>
                <a:latin typeface="Hacen Tunisia Light" panose="02000500000000000000"/>
                <a:ea typeface="Hacen Tunisia Light" panose="02000500000000000000"/>
                <a:cs typeface="Hacen Tunisia Light" panose="02000500000000000000"/>
                <a:sym typeface="Hacen Tunisia Light" panose="02000500000000000000"/>
                <a:rtl val="1"/>
              </a:rPr>
              <a:t>كتب ومخططات تعليمية .</a:t>
            </a:r>
            <a:endParaRPr lang="ar-EG" sz="3000">
              <a:solidFill>
                <a:srgbClr val="000000"/>
              </a:solidFill>
              <a:latin typeface="Hacen Tunisia Light" panose="02000500000000000000"/>
              <a:ea typeface="Hacen Tunisia Light" panose="02000500000000000000"/>
              <a:cs typeface="Hacen Tunisia Light" panose="02000500000000000000"/>
              <a:sym typeface="Hacen Tunisia Light" panose="02000500000000000000"/>
              <a:rtl val="1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  <a:endParaRPr lang="en-US" sz="2700">
                <a:solidFill>
                  <a:srgbClr val="FFFEFE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 rot="0"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0"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 rot="0"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 rot="0"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  <a:endParaRPr lang="en-US" sz="1700">
                <a:solidFill>
                  <a:srgbClr val="191919"/>
                </a:solidFill>
                <a:latin typeface="Gotham"/>
                <a:ea typeface="Gotham"/>
                <a:cs typeface="Gotham"/>
                <a:sym typeface="Gotham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33"/>
          <p:cNvGrpSpPr>
            <a:grpSpLocks noChangeAspect="1"/>
          </p:cNvGrpSpPr>
          <p:nvPr/>
        </p:nvGrpSpPr>
        <p:grpSpPr>
          <a:xfrm rot="0">
            <a:off x="2887797" y="818642"/>
            <a:ext cx="5494955" cy="8208527"/>
            <a:chOff x="0" y="0"/>
            <a:chExt cx="5969000" cy="8916670"/>
          </a:xfrm>
        </p:grpSpPr>
        <p:sp>
          <p:nvSpPr>
            <p:cNvPr id="34" name="Freeform 34"/>
            <p:cNvSpPr/>
            <p:nvPr/>
          </p:nvSpPr>
          <p:spPr>
            <a:xfrm>
              <a:off x="127" y="6350"/>
              <a:ext cx="5968747" cy="8903970"/>
            </a:xfrm>
            <a:custGeom>
              <a:avLst/>
              <a:gdLst/>
              <a:ahLst/>
              <a:cxnLst/>
              <a:rect l="l" t="t" r="r" b="b"/>
              <a:pathLst>
                <a:path w="5968747" h="8903970">
                  <a:moveTo>
                    <a:pt x="2988310" y="8903970"/>
                  </a:moveTo>
                  <a:lnTo>
                    <a:pt x="2980563" y="8903970"/>
                  </a:lnTo>
                  <a:cubicBezTo>
                    <a:pt x="2246376" y="8903970"/>
                    <a:pt x="1538224" y="8630412"/>
                    <a:pt x="986790" y="8133714"/>
                  </a:cubicBezTo>
                  <a:cubicBezTo>
                    <a:pt x="420243" y="7623429"/>
                    <a:pt x="76581" y="6921881"/>
                    <a:pt x="19177" y="6158230"/>
                  </a:cubicBezTo>
                  <a:lnTo>
                    <a:pt x="16510" y="6121781"/>
                  </a:lnTo>
                  <a:cubicBezTo>
                    <a:pt x="4064" y="5781802"/>
                    <a:pt x="0" y="2921762"/>
                    <a:pt x="23876" y="2678811"/>
                  </a:cubicBezTo>
                  <a:cubicBezTo>
                    <a:pt x="96647" y="1941195"/>
                    <a:pt x="439801" y="1261618"/>
                    <a:pt x="990092" y="765302"/>
                  </a:cubicBezTo>
                  <a:cubicBezTo>
                    <a:pt x="1537208" y="271780"/>
                    <a:pt x="2242439" y="0"/>
                    <a:pt x="2975737" y="0"/>
                  </a:cubicBezTo>
                  <a:lnTo>
                    <a:pt x="2992882" y="0"/>
                  </a:lnTo>
                  <a:cubicBezTo>
                    <a:pt x="3726180" y="0"/>
                    <a:pt x="4431411" y="271780"/>
                    <a:pt x="4978527" y="765302"/>
                  </a:cubicBezTo>
                  <a:cubicBezTo>
                    <a:pt x="5528945" y="1261745"/>
                    <a:pt x="5871972" y="1941195"/>
                    <a:pt x="5944743" y="2678684"/>
                  </a:cubicBezTo>
                  <a:cubicBezTo>
                    <a:pt x="5968747" y="2921762"/>
                    <a:pt x="5964555" y="5782310"/>
                    <a:pt x="5952109" y="6122289"/>
                  </a:cubicBezTo>
                  <a:lnTo>
                    <a:pt x="5951982" y="6125083"/>
                  </a:lnTo>
                  <a:lnTo>
                    <a:pt x="5949442" y="6158230"/>
                  </a:lnTo>
                  <a:cubicBezTo>
                    <a:pt x="5892038" y="6921881"/>
                    <a:pt x="5548376" y="7623429"/>
                    <a:pt x="4981829" y="8133715"/>
                  </a:cubicBezTo>
                  <a:cubicBezTo>
                    <a:pt x="4430522" y="8630412"/>
                    <a:pt x="3722497" y="8903970"/>
                    <a:pt x="2988310" y="8903970"/>
                  </a:cubicBezTo>
                  <a:close/>
                  <a:moveTo>
                    <a:pt x="2975737" y="19050"/>
                  </a:moveTo>
                  <a:cubicBezTo>
                    <a:pt x="2247138" y="19050"/>
                    <a:pt x="1546479" y="289052"/>
                    <a:pt x="1002792" y="779399"/>
                  </a:cubicBezTo>
                  <a:cubicBezTo>
                    <a:pt x="455930" y="1272540"/>
                    <a:pt x="115062" y="1947799"/>
                    <a:pt x="42926" y="2680589"/>
                  </a:cubicBezTo>
                  <a:cubicBezTo>
                    <a:pt x="19050" y="2923286"/>
                    <a:pt x="23241" y="5781167"/>
                    <a:pt x="35560" y="6121019"/>
                  </a:cubicBezTo>
                  <a:lnTo>
                    <a:pt x="35687" y="6123686"/>
                  </a:lnTo>
                  <a:lnTo>
                    <a:pt x="38227" y="6156706"/>
                  </a:lnTo>
                  <a:cubicBezTo>
                    <a:pt x="95250" y="6915403"/>
                    <a:pt x="436626" y="7612507"/>
                    <a:pt x="999617" y="8119490"/>
                  </a:cubicBezTo>
                  <a:cubicBezTo>
                    <a:pt x="1547622" y="8613012"/>
                    <a:pt x="2251202" y="8884793"/>
                    <a:pt x="2980690" y="8884793"/>
                  </a:cubicBezTo>
                  <a:lnTo>
                    <a:pt x="2988437" y="8884793"/>
                  </a:lnTo>
                  <a:cubicBezTo>
                    <a:pt x="3717925" y="8884793"/>
                    <a:pt x="4421378" y="8613012"/>
                    <a:pt x="4969383" y="8119490"/>
                  </a:cubicBezTo>
                  <a:cubicBezTo>
                    <a:pt x="5532374" y="7612507"/>
                    <a:pt x="5873750" y="6915403"/>
                    <a:pt x="5930773" y="6156706"/>
                  </a:cubicBezTo>
                  <a:lnTo>
                    <a:pt x="5933313" y="6121527"/>
                  </a:lnTo>
                  <a:cubicBezTo>
                    <a:pt x="5945632" y="5781675"/>
                    <a:pt x="5949950" y="2923159"/>
                    <a:pt x="5925947" y="2680462"/>
                  </a:cubicBezTo>
                  <a:cubicBezTo>
                    <a:pt x="5853684" y="1947672"/>
                    <a:pt x="5512816" y="1272540"/>
                    <a:pt x="4965954" y="779272"/>
                  </a:cubicBezTo>
                  <a:cubicBezTo>
                    <a:pt x="4422140" y="289052"/>
                    <a:pt x="3721481" y="19050"/>
                    <a:pt x="2992882" y="19050"/>
                  </a:cubicBezTo>
                  <a:lnTo>
                    <a:pt x="2975737" y="19050"/>
                  </a:ln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148844" y="155701"/>
              <a:ext cx="5671185" cy="8605520"/>
            </a:xfrm>
            <a:custGeom>
              <a:avLst/>
              <a:gdLst/>
              <a:ahLst/>
              <a:cxnLst/>
              <a:rect l="l" t="t" r="r" b="b"/>
              <a:pathLst>
                <a:path w="5671185" h="8605520">
                  <a:moveTo>
                    <a:pt x="2831846" y="8605394"/>
                  </a:moveTo>
                  <a:cubicBezTo>
                    <a:pt x="2134616" y="8605394"/>
                    <a:pt x="1462024" y="8345425"/>
                    <a:pt x="937895" y="7873493"/>
                  </a:cubicBezTo>
                  <a:cubicBezTo>
                    <a:pt x="399923" y="7388987"/>
                    <a:pt x="73660" y="6722873"/>
                    <a:pt x="19177" y="5997702"/>
                  </a:cubicBezTo>
                  <a:lnTo>
                    <a:pt x="16891" y="5966968"/>
                  </a:lnTo>
                  <a:cubicBezTo>
                    <a:pt x="4572" y="5629021"/>
                    <a:pt x="0" y="2784729"/>
                    <a:pt x="23749" y="2544064"/>
                  </a:cubicBezTo>
                  <a:cubicBezTo>
                    <a:pt x="92710" y="1843532"/>
                    <a:pt x="418592" y="1198245"/>
                    <a:pt x="941324" y="726821"/>
                  </a:cubicBezTo>
                  <a:cubicBezTo>
                    <a:pt x="1461008" y="258064"/>
                    <a:pt x="2130679" y="0"/>
                    <a:pt x="2827020" y="0"/>
                  </a:cubicBezTo>
                  <a:lnTo>
                    <a:pt x="2844165" y="0"/>
                  </a:lnTo>
                  <a:cubicBezTo>
                    <a:pt x="3540506" y="0"/>
                    <a:pt x="4210177" y="258191"/>
                    <a:pt x="4729861" y="726949"/>
                  </a:cubicBezTo>
                  <a:cubicBezTo>
                    <a:pt x="5252593" y="1198373"/>
                    <a:pt x="5578475" y="1843787"/>
                    <a:pt x="5647436" y="2544192"/>
                  </a:cubicBezTo>
                  <a:cubicBezTo>
                    <a:pt x="5671185" y="2784857"/>
                    <a:pt x="5666613" y="5629149"/>
                    <a:pt x="5654167" y="5967731"/>
                  </a:cubicBezTo>
                  <a:lnTo>
                    <a:pt x="5651881" y="5997830"/>
                  </a:lnTo>
                  <a:cubicBezTo>
                    <a:pt x="5597398" y="6722999"/>
                    <a:pt x="5271135" y="7389242"/>
                    <a:pt x="4733163" y="7873747"/>
                  </a:cubicBezTo>
                  <a:cubicBezTo>
                    <a:pt x="4209161" y="8345679"/>
                    <a:pt x="3536569" y="8605521"/>
                    <a:pt x="2839339" y="8605521"/>
                  </a:cubicBezTo>
                  <a:lnTo>
                    <a:pt x="2831846" y="8605521"/>
                  </a:lnTo>
                  <a:close/>
                </a:path>
              </a:pathLst>
            </a:custGeom>
            <a:blipFill>
              <a:blip r:embed="rId3"/>
              <a:stretch>
                <a:fillRect l="-26052" r="-26052"/>
              </a:stretch>
            </a:blipFill>
          </p:spPr>
        </p:sp>
      </p:grpSp>
      <p:sp>
        <p:nvSpPr>
          <p:cNvPr id="36" name="TextBox 36"/>
          <p:cNvSpPr txBox="1"/>
          <p:nvPr/>
        </p:nvSpPr>
        <p:spPr>
          <a:xfrm>
            <a:off x="11014068" y="7211843"/>
            <a:ext cx="5996238" cy="34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sz="2515" i="1">
                <a:solidFill>
                  <a:srgbClr val="191919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Tighannif Mascara</a:t>
            </a:r>
            <a:endParaRPr lang="en-US" sz="2515" i="1">
              <a:solidFill>
                <a:srgbClr val="191919"/>
              </a:solidFill>
              <a:latin typeface="Gotham Italics"/>
              <a:ea typeface="Gotham Italics"/>
              <a:cs typeface="Gotham Italics"/>
              <a:sym typeface="Gotham Italics"/>
            </a:endParaRPr>
          </a:p>
        </p:txBody>
      </p:sp>
      <p:grpSp>
        <p:nvGrpSpPr>
          <p:cNvPr id="37" name="Group 37"/>
          <p:cNvGrpSpPr/>
          <p:nvPr/>
        </p:nvGrpSpPr>
        <p:grpSpPr>
          <a:xfrm rot="0"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9144000" y="5415447"/>
            <a:ext cx="6434800" cy="647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15"/>
              </a:lnSpc>
            </a:pPr>
            <a:r>
              <a:rPr lang="en-US" sz="4465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Contact Details</a:t>
            </a:r>
            <a:endParaRPr lang="en-US" sz="4465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9144000" y="6419540"/>
            <a:ext cx="1870068" cy="34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sz="2515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Phone : </a:t>
            </a:r>
            <a:endParaRPr lang="en-US" sz="2515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014068" y="8004002"/>
            <a:ext cx="5299352" cy="34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sz="2515" i="1">
                <a:solidFill>
                  <a:srgbClr val="191919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mazouni.moha.ed17@gmail.com</a:t>
            </a:r>
            <a:endParaRPr lang="en-US" sz="2515" i="1">
              <a:solidFill>
                <a:srgbClr val="191919"/>
              </a:solidFill>
              <a:latin typeface="Gotham Italics"/>
              <a:ea typeface="Gotham Italics"/>
              <a:cs typeface="Gotham Italics"/>
              <a:sym typeface="Gotham Italics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1014820" y="8627251"/>
            <a:ext cx="5299352" cy="34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sz="2515" i="1">
                <a:solidFill>
                  <a:srgbClr val="191919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Mz Collage Labs</a:t>
            </a:r>
            <a:endParaRPr lang="en-US" sz="2515" i="1">
              <a:solidFill>
                <a:srgbClr val="191919"/>
              </a:solidFill>
              <a:latin typeface="Gotham Italics"/>
              <a:ea typeface="Gotham Italics"/>
              <a:cs typeface="Gotham Italics"/>
              <a:sym typeface="Gotham Italic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1014068" y="6419540"/>
            <a:ext cx="3024076" cy="34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sz="2515" i="1">
                <a:solidFill>
                  <a:srgbClr val="191919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+213794151960</a:t>
            </a:r>
            <a:endParaRPr lang="en-US" sz="2515" i="1">
              <a:solidFill>
                <a:srgbClr val="191919"/>
              </a:solidFill>
              <a:latin typeface="Gotham Italics"/>
              <a:ea typeface="Gotham Italics"/>
              <a:cs typeface="Gotham Italics"/>
              <a:sym typeface="Gotham Italics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9144000" y="7211843"/>
            <a:ext cx="1870068" cy="34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sz="2515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Address :</a:t>
            </a:r>
            <a:endParaRPr lang="en-US" sz="2515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144000" y="8004002"/>
            <a:ext cx="1870068" cy="34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sz="2515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Email :</a:t>
            </a:r>
            <a:endParaRPr lang="en-US" sz="2515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9144752" y="8627251"/>
            <a:ext cx="1870068" cy="347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</a:pPr>
            <a:r>
              <a:rPr lang="en-US" sz="2515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Page:</a:t>
            </a:r>
            <a:endParaRPr lang="en-US" sz="2515" b="1">
              <a:solidFill>
                <a:srgbClr val="191919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9144752" y="2559051"/>
            <a:ext cx="5443901" cy="267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50"/>
              </a:lnSpc>
            </a:pPr>
            <a:r>
              <a:rPr lang="en-US" sz="11155" b="1" i="1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  <a:endParaRPr lang="en-US" sz="11155" b="1" i="1">
              <a:solidFill>
                <a:srgbClr val="191919"/>
              </a:solidFill>
              <a:latin typeface="Gotham Bold Italics" panose="02000000000000000000"/>
              <a:ea typeface="Gotham Bold Italics" panose="02000000000000000000"/>
              <a:cs typeface="Gotham Bold Italics" panose="02000000000000000000"/>
              <a:sym typeface="Gotham Bold Italics" panose="020000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2419</Words>
  <Application>WPS Presentation</Application>
  <PresentationFormat>On-screen Show (4:3)</PresentationFormat>
  <Paragraphs>330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SimSun</vt:lpstr>
      <vt:lpstr>Wingdings</vt:lpstr>
      <vt:lpstr>Gotham</vt:lpstr>
      <vt:lpstr>Gotham Bold</vt:lpstr>
      <vt:lpstr>Poppins</vt:lpstr>
      <vt:lpstr>Arial</vt:lpstr>
      <vt:lpstr>Gotham Italics</vt:lpstr>
      <vt:lpstr>Gotham Light Italics</vt:lpstr>
      <vt:lpstr>Hacen Tunisia Light</vt:lpstr>
      <vt:lpstr>Hacen Tunisia Bold</vt:lpstr>
      <vt:lpstr>Gotham Bold Italics</vt:lpstr>
      <vt:lpstr>Calibri</vt:lpstr>
      <vt:lpstr>Microsoft YaHei</vt:lpstr>
      <vt:lpstr>Arial Unicode MS</vt:lpstr>
      <vt:lpstr>Tahoma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نسخة من  Portfolio </dc:title>
  <dc:creator/>
  <cp:lastModifiedBy>khyat</cp:lastModifiedBy>
  <cp:revision>2</cp:revision>
  <dcterms:created xsi:type="dcterms:W3CDTF">2006-08-16T00:00:00Z</dcterms:created>
  <dcterms:modified xsi:type="dcterms:W3CDTF">2025-11-27T12:58:14Z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4E95B78FE1AF4CD7A3A470BCA48A222E_12</vt:lpwstr>
  </property>
  <property fmtid="{D5CDD505-2E9C-101B-9397-08002B2CF9AE}" pid="3" name="KSOProductBuildVer">
    <vt:lpwstr>1033-12.2.0.23155</vt:lpwstr>
  </property>
</Properties>
</file>